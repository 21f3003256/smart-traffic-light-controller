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 SemiBold"/>
      <p:regular r:id="rId16"/>
      <p:bold r:id="rId17"/>
      <p:italic r:id="rId18"/>
      <p:boldItalic r:id="rId19"/>
    </p:embeddedFont>
    <p:embeddedFont>
      <p:font typeface="Urbanist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9c9439a0_0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29c9439a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2afc77bf5_0_20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2afc77bf5_0_2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2afc77bf5_0_1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2afc77bf5_0_18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2afc77bf5_0_1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2afc77bf5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9c9439a0_26_0)">
  <p:cSld name="Generated (g3f29c9439a0_26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85" name="Google Shape;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Problem Background</a:t>
            </a:r>
            <a:endParaRPr b="1" sz="36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2" name="Google Shape;92;p15"/>
          <p:cNvGrpSpPr/>
          <p:nvPr/>
        </p:nvGrpSpPr>
        <p:grpSpPr>
          <a:xfrm>
            <a:off x="571463" y="2057800"/>
            <a:ext cx="5048400" cy="3613500"/>
            <a:chOff x="0" y="0"/>
            <a:chExt cx="5048400" cy="3613500"/>
          </a:xfrm>
        </p:grpSpPr>
        <p:sp>
          <p:nvSpPr>
            <p:cNvPr id="93" name="Google Shape;93;p15"/>
            <p:cNvSpPr/>
            <p:nvPr/>
          </p:nvSpPr>
          <p:spPr>
            <a:xfrm>
              <a:off x="0" y="0"/>
              <a:ext cx="5048400" cy="3613500"/>
            </a:xfrm>
            <a:prstGeom prst="roundRect">
              <a:avLst>
                <a:gd fmla="val 3232" name="adj"/>
              </a:avLst>
            </a:prstGeom>
            <a:solidFill>
              <a:srgbClr val="0B132B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285750" y="490050"/>
              <a:ext cx="4476900" cy="26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Adaptive Traffic Management</a:t>
              </a:r>
              <a:endParaRPr b="1" sz="2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Modern traffic networks need responsive systems that automatically adjust to changing road conditions, ensuring vehicles keep moving efficiently and preventing unnecessary delays.</a:t>
              </a:r>
              <a:endParaRPr b="0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27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Scope of Project</a:t>
              </a:r>
              <a:endParaRPr b="1" sz="1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Implementation of an STM32 Cortex-M4-based controller</a:t>
              </a:r>
              <a:r>
                <a:rPr b="0" lang="en-US" sz="13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 that utilizes real-time HC-SR04 ultrasonic sensor data to replace conventional, fixed-timer infrastructure.</a:t>
              </a:r>
              <a:endParaRPr b="0" sz="1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5857838" y="2057800"/>
            <a:ext cx="5762700" cy="3613500"/>
            <a:chOff x="0" y="0"/>
            <a:chExt cx="5762700" cy="3613500"/>
          </a:xfrm>
        </p:grpSpPr>
        <p:sp>
          <p:nvSpPr>
            <p:cNvPr id="96" name="Google Shape;96;p15"/>
            <p:cNvSpPr/>
            <p:nvPr/>
          </p:nvSpPr>
          <p:spPr>
            <a:xfrm>
              <a:off x="0" y="0"/>
              <a:ext cx="5762700" cy="3613500"/>
            </a:xfrm>
            <a:prstGeom prst="roundRect">
              <a:avLst>
                <a:gd fmla="val 3232" name="adj"/>
              </a:avLst>
            </a:prstGeom>
            <a:solidFill>
              <a:srgbClr val="0B132B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285750" y="285750"/>
              <a:ext cx="5191200" cy="3129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The Bottleneck: Conventional Intersections</a:t>
              </a:r>
              <a:endParaRPr b="1" sz="2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r>
                <a:rPr b="1" lang="en-US" sz="125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Lane Starvation:</a:t>
              </a:r>
              <a:r>
                <a:rPr b="0" lang="en-US" sz="12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Empty roads receive green cycles while high-density lanes wait indefinitely.</a:t>
              </a:r>
              <a:endParaRPr b="0" sz="12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r>
                <a:rPr b="1" lang="en-US" sz="125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Economic Drain:</a:t>
              </a:r>
              <a:r>
                <a:rPr b="0" lang="en-US" sz="12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Gridlocks waste billions of productive hours annually.</a:t>
              </a:r>
              <a:endParaRPr b="0" sz="12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co2</a:t>
              </a:r>
              <a:r>
                <a:rPr b="1" lang="en-US" sz="125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Environmental Impact:</a:t>
              </a:r>
              <a:r>
                <a:rPr b="0" lang="en-US" sz="12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Excessive vehicle idling drastically increases carbon emissions.</a:t>
              </a:r>
              <a:endParaRPr b="0" sz="12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traffic</a:t>
              </a:r>
              <a:r>
                <a:rPr b="1" lang="en-US" sz="125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Pedestrian Disruption:</a:t>
              </a:r>
              <a:r>
                <a:rPr b="0" lang="en-US" sz="12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Immediate pedestrian button interrupts halt vehicle flow abruptly.</a:t>
              </a:r>
              <a:endParaRPr b="0" sz="12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98" name="Google Shape;98;p15"/>
          <p:cNvSpPr/>
          <p:nvPr/>
        </p:nvSpPr>
        <p:spPr>
          <a:xfrm>
            <a:off x="581025" y="1249560"/>
            <a:ext cx="11030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580950" y="2226475"/>
            <a:ext cx="3486300" cy="3009900"/>
          </a:xfrm>
          <a:prstGeom prst="roundRect">
            <a:avLst>
              <a:gd fmla="val 5063" name="adj"/>
            </a:avLst>
          </a:prstGeom>
          <a:solidFill>
            <a:srgbClr val="0B132B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819075" y="2464600"/>
            <a:ext cx="3009900" cy="25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timer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Dynamic Timing</a:t>
            </a:r>
            <a:endParaRPr b="0" sz="180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Dynamically adjust green-light durations based on real-time vehicle density to optimize intersection throughput.</a:t>
            </a:r>
            <a:endParaRPr b="0" sz="12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352850" y="2226475"/>
            <a:ext cx="3486300" cy="3009900"/>
          </a:xfrm>
          <a:prstGeom prst="roundRect">
            <a:avLst>
              <a:gd fmla="val 5063" name="adj"/>
            </a:avLst>
          </a:prstGeom>
          <a:solidFill>
            <a:srgbClr val="0B132B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07" name="Google Shape;1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6025" y="-1323975"/>
            <a:ext cx="6667500" cy="172238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4590975" y="2464600"/>
            <a:ext cx="3009900" cy="25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published_with_changes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Guaranteed Lane Access</a:t>
            </a:r>
            <a:endParaRPr b="0" sz="180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Implement a bounded circular sequence with 2s, 5s, and 10s adaptive green durations to ensure balanced traffic flow.</a:t>
            </a:r>
            <a:endParaRPr b="0" sz="12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8124750" y="2226475"/>
            <a:ext cx="3486300" cy="3009900"/>
          </a:xfrm>
          <a:prstGeom prst="roundRect">
            <a:avLst>
              <a:gd fmla="val 5063" name="adj"/>
            </a:avLst>
          </a:prstGeom>
          <a:solidFill>
            <a:srgbClr val="0B132B">
              <a:alpha val="60000"/>
            </a:srgbClr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8362875" y="2464600"/>
            <a:ext cx="3009900" cy="25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directions_walk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Safe Access</a:t>
            </a:r>
            <a:endParaRPr b="0" sz="180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Integrate seamless pedestrian push-button requests without causing excessive disruption to the established vehicle flow.</a:t>
            </a:r>
            <a:endParaRPr b="0" sz="12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-US" sz="36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 Objective</a:t>
            </a:r>
            <a:endParaRPr b="1" sz="36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81025" y="1249560"/>
            <a:ext cx="11030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571575" y="1895075"/>
            <a:ext cx="4381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Adaptive Priority Control</a:t>
            </a:r>
            <a:endParaRPr b="1" sz="26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 edge-computed traffic controller powered by an </a:t>
            </a:r>
            <a:r>
              <a:rPr b="1" lang="en-US" sz="1350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STM32 Cortex-M4</a:t>
            </a:r>
            <a:r>
              <a:rPr b="0"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By analyzing spatial data from ultrasonics, it transitions from reactive to proactive traffic management.</a:t>
            </a:r>
            <a:endParaRPr b="0" sz="13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b="0" lang="en-US" sz="12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density sensing via 8-point ultrasonic arrays.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b="0" lang="en-US" sz="12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HAL tick-based phase timing with DWT microsecond timing for ultrasonic echo measurement.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r>
              <a:rPr b="0" lang="en-US" sz="125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EXTI push-button interrupts for controlled pedestrian phases.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19" name="Google Shape;119;p17"/>
          <p:cNvGrpSpPr/>
          <p:nvPr/>
        </p:nvGrpSpPr>
        <p:grpSpPr>
          <a:xfrm>
            <a:off x="5334075" y="1799825"/>
            <a:ext cx="6286500" cy="4191000"/>
            <a:chOff x="0" y="0"/>
            <a:chExt cx="6286500" cy="4191000"/>
          </a:xfrm>
        </p:grpSpPr>
        <p:sp>
          <p:nvSpPr>
            <p:cNvPr id="120" name="Google Shape;120;p17"/>
            <p:cNvSpPr/>
            <p:nvPr/>
          </p:nvSpPr>
          <p:spPr>
            <a:xfrm>
              <a:off x="0" y="0"/>
              <a:ext cx="6286500" cy="4191000"/>
            </a:xfrm>
            <a:prstGeom prst="roundRect">
              <a:avLst>
                <a:gd fmla="val 3636" name="adj"/>
              </a:avLst>
            </a:prstGeom>
            <a:solidFill>
              <a:srgbClr val="0B132B">
                <a:alpha val="4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1" name="Google Shape;12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09750" y="942975"/>
              <a:ext cx="723900" cy="116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09750" y="2085975"/>
              <a:ext cx="723900" cy="116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81500" y="2085975"/>
              <a:ext cx="571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7"/>
            <p:cNvSpPr/>
            <p:nvPr/>
          </p:nvSpPr>
          <p:spPr>
            <a:xfrm>
              <a:off x="4953000" y="2057400"/>
              <a:ext cx="762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" name="Google Shape;125;p17"/>
            <p:cNvGrpSpPr/>
            <p:nvPr/>
          </p:nvGrpSpPr>
          <p:grpSpPr>
            <a:xfrm>
              <a:off x="190500" y="190500"/>
              <a:ext cx="1619100" cy="1524000"/>
              <a:chOff x="0" y="0"/>
              <a:chExt cx="1619100" cy="1524000"/>
            </a:xfrm>
          </p:grpSpPr>
          <p:sp>
            <p:nvSpPr>
              <p:cNvPr id="126" name="Google Shape;126;p17"/>
              <p:cNvSpPr/>
              <p:nvPr/>
            </p:nvSpPr>
            <p:spPr>
              <a:xfrm>
                <a:off x="0" y="0"/>
                <a:ext cx="1619100" cy="1524000"/>
              </a:xfrm>
              <a:prstGeom prst="roundRect">
                <a:avLst>
                  <a:gd fmla="val 75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7"/>
              <p:cNvSpPr txBox="1"/>
              <p:nvPr/>
            </p:nvSpPr>
            <p:spPr>
              <a:xfrm>
                <a:off x="0" y="0"/>
                <a:ext cx="16191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4300" lIns="114300" spcFirstLastPara="1" rIns="114300" wrap="square" tIns="1143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radar</a:t>
                </a:r>
                <a:endParaRPr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Ultrasonic x8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HC-SR04 Density Input</a:t>
                </a:r>
                <a:endParaRPr b="0" sz="10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28" name="Google Shape;128;p17"/>
            <p:cNvGrpSpPr/>
            <p:nvPr/>
          </p:nvGrpSpPr>
          <p:grpSpPr>
            <a:xfrm>
              <a:off x="190500" y="2476500"/>
              <a:ext cx="1619100" cy="1524000"/>
              <a:chOff x="0" y="0"/>
              <a:chExt cx="1619100" cy="1524000"/>
            </a:xfrm>
          </p:grpSpPr>
          <p:sp>
            <p:nvSpPr>
              <p:cNvPr id="129" name="Google Shape;129;p17"/>
              <p:cNvSpPr/>
              <p:nvPr/>
            </p:nvSpPr>
            <p:spPr>
              <a:xfrm>
                <a:off x="0" y="0"/>
                <a:ext cx="1619100" cy="1524000"/>
              </a:xfrm>
              <a:prstGeom prst="roundRect">
                <a:avLst>
                  <a:gd fmla="val 75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7"/>
              <p:cNvSpPr txBox="1"/>
              <p:nvPr/>
            </p:nvSpPr>
            <p:spPr>
              <a:xfrm>
                <a:off x="0" y="0"/>
                <a:ext cx="16191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4300" lIns="114300" spcFirstLastPara="1" rIns="114300" wrap="square" tIns="1143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touch_app</a:t>
                </a:r>
                <a:endParaRPr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Push Button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Pedestrian Request</a:t>
                </a:r>
                <a:endParaRPr b="0" sz="10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31" name="Google Shape;131;p17"/>
            <p:cNvGrpSpPr/>
            <p:nvPr/>
          </p:nvGrpSpPr>
          <p:grpSpPr>
            <a:xfrm>
              <a:off x="2571750" y="1238250"/>
              <a:ext cx="1809600" cy="1714500"/>
              <a:chOff x="0" y="0"/>
              <a:chExt cx="1809600" cy="1714500"/>
            </a:xfrm>
          </p:grpSpPr>
          <p:sp>
            <p:nvSpPr>
              <p:cNvPr id="132" name="Google Shape;132;p17"/>
              <p:cNvSpPr/>
              <p:nvPr/>
            </p:nvSpPr>
            <p:spPr>
              <a:xfrm>
                <a:off x="0" y="0"/>
                <a:ext cx="18096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0D1E36"/>
              </a:solidFill>
              <a:ln cap="flat" cmpd="sng" w="19050">
                <a:solidFill>
                  <a:srgbClr val="00F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7"/>
              <p:cNvSpPr txBox="1"/>
              <p:nvPr/>
            </p:nvSpPr>
            <p:spPr>
              <a:xfrm>
                <a:off x="0" y="0"/>
                <a:ext cx="18096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4300" lIns="114300" spcFirstLastPara="1" rIns="114300" wrap="square" tIns="1143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>
                    <a:solidFill>
                      <a:srgbClr val="00F0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endParaRPr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0F0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STM32 F446RE</a:t>
                </a:r>
                <a:endParaRPr b="1" sz="1400">
                  <a:solidFill>
                    <a:srgbClr val="00F0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FFFFFF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Cortex-M4 Edge Core</a:t>
                </a:r>
                <a:endParaRPr b="0" sz="95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GPIO • EXTI • DWT • HAL Tick</a:t>
                </a:r>
                <a:endParaRPr b="0" sz="8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134" name="Google Shape;134;p17"/>
            <p:cNvGrpSpPr/>
            <p:nvPr/>
          </p:nvGrpSpPr>
          <p:grpSpPr>
            <a:xfrm>
              <a:off x="4953000" y="1333500"/>
              <a:ext cx="1143000" cy="1524000"/>
              <a:chOff x="0" y="0"/>
              <a:chExt cx="1143000" cy="1524000"/>
            </a:xfrm>
          </p:grpSpPr>
          <p:sp>
            <p:nvSpPr>
              <p:cNvPr id="135" name="Google Shape;135;p17"/>
              <p:cNvSpPr/>
              <p:nvPr/>
            </p:nvSpPr>
            <p:spPr>
              <a:xfrm>
                <a:off x="0" y="0"/>
                <a:ext cx="1143000" cy="1524000"/>
              </a:xfrm>
              <a:prstGeom prst="roundRect">
                <a:avLst>
                  <a:gd fmla="val 10000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7"/>
              <p:cNvSpPr txBox="1"/>
              <p:nvPr/>
            </p:nvSpPr>
            <p:spPr>
              <a:xfrm>
                <a:off x="0" y="0"/>
                <a:ext cx="1143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4300" lIns="114300" spcFirstLastPara="1" rIns="114300" wrap="square" tIns="1143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traffic</a:t>
                </a:r>
                <a:endParaRPr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R/Y/G LEDs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Phase Execution</a:t>
                </a:r>
                <a:endParaRPr b="0" sz="10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sp>
        <p:nvSpPr>
          <p:cNvPr id="137" name="Google Shape;137;p17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</a:t>
            </a:r>
            <a:r>
              <a:rPr b="0" i="0" lang="en-US" sz="34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. Proposed Solution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81025" y="1249560"/>
            <a:ext cx="11030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8"/>
          <p:cNvGrpSpPr/>
          <p:nvPr/>
        </p:nvGrpSpPr>
        <p:grpSpPr>
          <a:xfrm>
            <a:off x="571500" y="1714500"/>
            <a:ext cx="2524200" cy="4572000"/>
            <a:chOff x="0" y="0"/>
            <a:chExt cx="2524200" cy="4572000"/>
          </a:xfrm>
        </p:grpSpPr>
        <p:sp>
          <p:nvSpPr>
            <p:cNvPr id="145" name="Google Shape;145;p18"/>
            <p:cNvSpPr/>
            <p:nvPr/>
          </p:nvSpPr>
          <p:spPr>
            <a:xfrm>
              <a:off x="0" y="0"/>
              <a:ext cx="2524200" cy="4572000"/>
            </a:xfrm>
            <a:prstGeom prst="roundRect">
              <a:avLst>
                <a:gd fmla="val 6037" name="adj"/>
              </a:avLst>
            </a:prstGeom>
            <a:solidFill>
              <a:srgbClr val="0B132B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" name="Google Shape;146;p18"/>
            <p:cNvPicPr preferRelativeResize="0"/>
            <p:nvPr/>
          </p:nvPicPr>
          <p:blipFill rotWithShape="1">
            <a:blip r:embed="rId4">
              <a:alphaModFix/>
            </a:blip>
            <a:srcRect b="1765" l="0" r="0" t="1765"/>
            <a:stretch/>
          </p:blipFill>
          <p:spPr>
            <a:xfrm>
              <a:off x="142875" y="142875"/>
              <a:ext cx="22383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grpSp>
          <p:nvGrpSpPr>
            <p:cNvPr id="147" name="Google Shape;147;p18"/>
            <p:cNvGrpSpPr/>
            <p:nvPr/>
          </p:nvGrpSpPr>
          <p:grpSpPr>
            <a:xfrm>
              <a:off x="142875" y="1762125"/>
              <a:ext cx="2238300" cy="2667000"/>
              <a:chOff x="0" y="0"/>
              <a:chExt cx="2238300" cy="2667000"/>
            </a:xfrm>
          </p:grpSpPr>
          <p:sp>
            <p:nvSpPr>
              <p:cNvPr id="148" name="Google Shape;148;p18"/>
              <p:cNvSpPr/>
              <p:nvPr/>
            </p:nvSpPr>
            <p:spPr>
              <a:xfrm>
                <a:off x="0" y="0"/>
                <a:ext cx="2238300" cy="2667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8"/>
              <p:cNvSpPr txBox="1"/>
              <p:nvPr/>
            </p:nvSpPr>
            <p:spPr>
              <a:xfrm>
                <a:off x="0" y="0"/>
                <a:ext cx="22383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STM32 Nucleo-F446RE</a:t>
                </a:r>
                <a:endParaRPr b="1" sz="15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32-bit Cortex-M4 MCU. Manages GPIO traffic LEDs, EXTI pedestrian interrupts, HAL tick timing, and DWT-based ultrasonic pulse measurement.</a:t>
                </a:r>
                <a:endParaRPr b="0" sz="11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150" name="Google Shape;150;p18"/>
          <p:cNvGrpSpPr/>
          <p:nvPr/>
        </p:nvGrpSpPr>
        <p:grpSpPr>
          <a:xfrm>
            <a:off x="3409950" y="1714500"/>
            <a:ext cx="2524200" cy="4572000"/>
            <a:chOff x="0" y="0"/>
            <a:chExt cx="2524200" cy="4572000"/>
          </a:xfrm>
        </p:grpSpPr>
        <p:sp>
          <p:nvSpPr>
            <p:cNvPr id="151" name="Google Shape;151;p18"/>
            <p:cNvSpPr/>
            <p:nvPr/>
          </p:nvSpPr>
          <p:spPr>
            <a:xfrm>
              <a:off x="0" y="0"/>
              <a:ext cx="2524200" cy="4572000"/>
            </a:xfrm>
            <a:prstGeom prst="roundRect">
              <a:avLst>
                <a:gd fmla="val 6037" name="adj"/>
              </a:avLst>
            </a:prstGeom>
            <a:solidFill>
              <a:srgbClr val="0B132B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2" name="Google Shape;152;p18"/>
            <p:cNvPicPr preferRelativeResize="0"/>
            <p:nvPr/>
          </p:nvPicPr>
          <p:blipFill rotWithShape="1">
            <a:blip r:embed="rId5">
              <a:alphaModFix/>
            </a:blip>
            <a:srcRect b="1765" l="0" r="0" t="1765"/>
            <a:stretch/>
          </p:blipFill>
          <p:spPr>
            <a:xfrm>
              <a:off x="142875" y="142875"/>
              <a:ext cx="22383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grpSp>
          <p:nvGrpSpPr>
            <p:cNvPr id="153" name="Google Shape;153;p18"/>
            <p:cNvGrpSpPr/>
            <p:nvPr/>
          </p:nvGrpSpPr>
          <p:grpSpPr>
            <a:xfrm>
              <a:off x="142875" y="1762125"/>
              <a:ext cx="2238300" cy="2667000"/>
              <a:chOff x="0" y="0"/>
              <a:chExt cx="2238300" cy="2667000"/>
            </a:xfrm>
          </p:grpSpPr>
          <p:sp>
            <p:nvSpPr>
              <p:cNvPr id="154" name="Google Shape;154;p18"/>
              <p:cNvSpPr/>
              <p:nvPr/>
            </p:nvSpPr>
            <p:spPr>
              <a:xfrm>
                <a:off x="0" y="0"/>
                <a:ext cx="2238300" cy="2667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8"/>
              <p:cNvSpPr txBox="1"/>
              <p:nvPr/>
            </p:nvSpPr>
            <p:spPr>
              <a:xfrm>
                <a:off x="0" y="0"/>
                <a:ext cx="22383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HC-SR04 Sensors (x8)</a:t>
                </a:r>
                <a:endParaRPr b="1" sz="15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Dual sensors per direction estimate traffic occupancy as 0, 1, or 2 blocked sensors.</a:t>
                </a:r>
                <a:endParaRPr b="0" sz="11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156" name="Google Shape;156;p18"/>
          <p:cNvGrpSpPr/>
          <p:nvPr/>
        </p:nvGrpSpPr>
        <p:grpSpPr>
          <a:xfrm>
            <a:off x="6248400" y="1714500"/>
            <a:ext cx="2524200" cy="4572000"/>
            <a:chOff x="0" y="0"/>
            <a:chExt cx="2524200" cy="4572000"/>
          </a:xfrm>
        </p:grpSpPr>
        <p:sp>
          <p:nvSpPr>
            <p:cNvPr id="157" name="Google Shape;157;p18"/>
            <p:cNvSpPr/>
            <p:nvPr/>
          </p:nvSpPr>
          <p:spPr>
            <a:xfrm>
              <a:off x="0" y="0"/>
              <a:ext cx="2524200" cy="4572000"/>
            </a:xfrm>
            <a:prstGeom prst="roundRect">
              <a:avLst>
                <a:gd fmla="val 6037" name="adj"/>
              </a:avLst>
            </a:prstGeom>
            <a:solidFill>
              <a:srgbClr val="0B132B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8" name="Google Shape;158;p18"/>
            <p:cNvPicPr preferRelativeResize="0"/>
            <p:nvPr/>
          </p:nvPicPr>
          <p:blipFill rotWithShape="1">
            <a:blip r:embed="rId6">
              <a:alphaModFix/>
            </a:blip>
            <a:srcRect b="1484" l="0" r="0" t="1494"/>
            <a:stretch/>
          </p:blipFill>
          <p:spPr>
            <a:xfrm>
              <a:off x="142875" y="142875"/>
              <a:ext cx="22383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grpSp>
          <p:nvGrpSpPr>
            <p:cNvPr id="159" name="Google Shape;159;p18"/>
            <p:cNvGrpSpPr/>
            <p:nvPr/>
          </p:nvGrpSpPr>
          <p:grpSpPr>
            <a:xfrm>
              <a:off x="142875" y="1762125"/>
              <a:ext cx="2238300" cy="2667000"/>
              <a:chOff x="0" y="0"/>
              <a:chExt cx="2238300" cy="2667000"/>
            </a:xfrm>
          </p:grpSpPr>
          <p:sp>
            <p:nvSpPr>
              <p:cNvPr id="160" name="Google Shape;160;p18"/>
              <p:cNvSpPr/>
              <p:nvPr/>
            </p:nvSpPr>
            <p:spPr>
              <a:xfrm>
                <a:off x="0" y="0"/>
                <a:ext cx="2238300" cy="2667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8"/>
              <p:cNvSpPr txBox="1"/>
              <p:nvPr/>
            </p:nvSpPr>
            <p:spPr>
              <a:xfrm>
                <a:off x="0" y="0"/>
                <a:ext cx="22383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Push Button</a:t>
                </a:r>
                <a:endParaRPr b="1" sz="15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Four active-HIGH tactile switches using EXTI interrupts and internal pulldown configuration.</a:t>
                </a:r>
                <a:endParaRPr b="0" sz="11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162" name="Google Shape;162;p18"/>
          <p:cNvGrpSpPr/>
          <p:nvPr/>
        </p:nvGrpSpPr>
        <p:grpSpPr>
          <a:xfrm>
            <a:off x="9086850" y="1714500"/>
            <a:ext cx="2524200" cy="4572000"/>
            <a:chOff x="0" y="0"/>
            <a:chExt cx="2524200" cy="4572000"/>
          </a:xfrm>
        </p:grpSpPr>
        <p:sp>
          <p:nvSpPr>
            <p:cNvPr id="163" name="Google Shape;163;p18"/>
            <p:cNvSpPr/>
            <p:nvPr/>
          </p:nvSpPr>
          <p:spPr>
            <a:xfrm>
              <a:off x="0" y="0"/>
              <a:ext cx="2524200" cy="4572000"/>
            </a:xfrm>
            <a:prstGeom prst="roundRect">
              <a:avLst>
                <a:gd fmla="val 6037" name="adj"/>
              </a:avLst>
            </a:prstGeom>
            <a:solidFill>
              <a:srgbClr val="0B132B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4" name="Google Shape;164;p18"/>
            <p:cNvPicPr preferRelativeResize="0"/>
            <p:nvPr/>
          </p:nvPicPr>
          <p:blipFill rotWithShape="1">
            <a:blip r:embed="rId7">
              <a:alphaModFix/>
            </a:blip>
            <a:srcRect b="4939" l="0" r="0" t="4930"/>
            <a:stretch/>
          </p:blipFill>
          <p:spPr>
            <a:xfrm>
              <a:off x="142875" y="142875"/>
              <a:ext cx="2238300" cy="14289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grpSp>
          <p:nvGrpSpPr>
            <p:cNvPr id="165" name="Google Shape;165;p18"/>
            <p:cNvGrpSpPr/>
            <p:nvPr/>
          </p:nvGrpSpPr>
          <p:grpSpPr>
            <a:xfrm>
              <a:off x="142875" y="1762125"/>
              <a:ext cx="2238300" cy="2667000"/>
              <a:chOff x="0" y="0"/>
              <a:chExt cx="2238300" cy="2667000"/>
            </a:xfrm>
          </p:grpSpPr>
          <p:sp>
            <p:nvSpPr>
              <p:cNvPr id="166" name="Google Shape;166;p18"/>
              <p:cNvSpPr/>
              <p:nvPr/>
            </p:nvSpPr>
            <p:spPr>
              <a:xfrm>
                <a:off x="0" y="0"/>
                <a:ext cx="2238300" cy="2667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8"/>
              <p:cNvSpPr txBox="1"/>
              <p:nvPr/>
            </p:nvSpPr>
            <p:spPr>
              <a:xfrm>
                <a:off x="0" y="0"/>
                <a:ext cx="22383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LED Traffic Light</a:t>
                </a:r>
                <a:endParaRPr b="1" sz="15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Four R/Y/G LED modules represent the junction signals. Each module is driven by STM32 GPIO outputs to display red, yellow, and green phases during adaptive traffic control.</a:t>
                </a:r>
                <a:endParaRPr b="0" sz="11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sp>
        <p:nvSpPr>
          <p:cNvPr id="168" name="Google Shape;168;p18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</a:t>
            </a:r>
            <a:r>
              <a:rPr b="0" i="0" lang="en-US" sz="34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. Materials Used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81025" y="1249560"/>
            <a:ext cx="11030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6025" y="-1323975"/>
            <a:ext cx="6667500" cy="8251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19"/>
          <p:cNvGrpSpPr/>
          <p:nvPr/>
        </p:nvGrpSpPr>
        <p:grpSpPr>
          <a:xfrm>
            <a:off x="809625" y="2339600"/>
            <a:ext cx="10382400" cy="285900"/>
            <a:chOff x="809625" y="2667000"/>
            <a:chExt cx="10382400" cy="285900"/>
          </a:xfrm>
        </p:grpSpPr>
        <p:sp>
          <p:nvSpPr>
            <p:cNvPr id="177" name="Google Shape;177;p19"/>
            <p:cNvSpPr txBox="1"/>
            <p:nvPr/>
          </p:nvSpPr>
          <p:spPr>
            <a:xfrm>
              <a:off x="809625" y="266700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Sub-System</a:t>
              </a:r>
              <a:endParaRPr b="1" sz="1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3095625" y="2667000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STM32 Hardware Resource</a:t>
              </a:r>
              <a:endParaRPr b="1" sz="1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5953125" y="2667000"/>
              <a:ext cx="523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Logic Execution Strategy</a:t>
              </a:r>
              <a:endParaRPr b="1" sz="1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80" name="Google Shape;180;p19"/>
          <p:cNvSpPr txBox="1"/>
          <p:nvPr/>
        </p:nvSpPr>
        <p:spPr>
          <a:xfrm>
            <a:off x="581025" y="2042539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architecture maps complex physical inputs to low-level microcontroller hardware resources for deterministic performance.</a:t>
            </a:r>
            <a:endParaRPr/>
          </a:p>
        </p:txBody>
      </p:sp>
      <p:grpSp>
        <p:nvGrpSpPr>
          <p:cNvPr id="181" name="Google Shape;181;p19"/>
          <p:cNvGrpSpPr/>
          <p:nvPr/>
        </p:nvGrpSpPr>
        <p:grpSpPr>
          <a:xfrm>
            <a:off x="581025" y="2672975"/>
            <a:ext cx="11030100" cy="552600"/>
            <a:chOff x="581025" y="3000375"/>
            <a:chExt cx="11030100" cy="552600"/>
          </a:xfrm>
        </p:grpSpPr>
        <p:sp>
          <p:nvSpPr>
            <p:cNvPr id="182" name="Google Shape;182;p19"/>
            <p:cNvSpPr/>
            <p:nvPr/>
          </p:nvSpPr>
          <p:spPr>
            <a:xfrm>
              <a:off x="581025" y="3000375"/>
              <a:ext cx="11030100" cy="552600"/>
            </a:xfrm>
            <a:prstGeom prst="roundRect">
              <a:avLst>
                <a:gd fmla="val 13793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581025" y="3000375"/>
              <a:ext cx="38100" cy="552600"/>
            </a:xfrm>
            <a:prstGeom prst="roundRect">
              <a:avLst>
                <a:gd fmla="val 50000" name="adj"/>
              </a:avLst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809625" y="3000375"/>
              <a:ext cx="20955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Phase Control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3095625" y="3000375"/>
              <a:ext cx="2667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0F0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HAL tick / HAL_Delay</a:t>
              </a:r>
              <a:endParaRPr b="0" sz="1300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5953125" y="3000375"/>
              <a:ext cx="5238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Red, green, and yellow phases controlled using millisecond delays</a:t>
              </a:r>
              <a:endParaRPr b="0" sz="12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87" name="Google Shape;187;p19"/>
          <p:cNvGrpSpPr/>
          <p:nvPr/>
        </p:nvGrpSpPr>
        <p:grpSpPr>
          <a:xfrm>
            <a:off x="581025" y="3320675"/>
            <a:ext cx="11030100" cy="552600"/>
            <a:chOff x="581025" y="3648075"/>
            <a:chExt cx="11030100" cy="552600"/>
          </a:xfrm>
        </p:grpSpPr>
        <p:sp>
          <p:nvSpPr>
            <p:cNvPr id="188" name="Google Shape;188;p19"/>
            <p:cNvSpPr/>
            <p:nvPr/>
          </p:nvSpPr>
          <p:spPr>
            <a:xfrm>
              <a:off x="581025" y="3648075"/>
              <a:ext cx="11030100" cy="552600"/>
            </a:xfrm>
            <a:prstGeom prst="roundRect">
              <a:avLst>
                <a:gd fmla="val 13793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581025" y="3648075"/>
              <a:ext cx="38100" cy="552600"/>
            </a:xfrm>
            <a:prstGeom prst="roundRect">
              <a:avLst>
                <a:gd fmla="val 50000" name="adj"/>
              </a:avLst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809625" y="3648075"/>
              <a:ext cx="20955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Density Check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3095625" y="3648075"/>
              <a:ext cx="2667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0F0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DWT Cycle Counter</a:t>
              </a:r>
              <a:endParaRPr b="0" sz="1300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5953125" y="3648075"/>
              <a:ext cx="5238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Microsecond ultrasonic echo timing</a:t>
              </a:r>
              <a:endParaRPr b="0" sz="12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581025" y="3968375"/>
            <a:ext cx="11030100" cy="552600"/>
            <a:chOff x="581025" y="4295775"/>
            <a:chExt cx="11030100" cy="552600"/>
          </a:xfrm>
        </p:grpSpPr>
        <p:sp>
          <p:nvSpPr>
            <p:cNvPr id="194" name="Google Shape;194;p19"/>
            <p:cNvSpPr/>
            <p:nvPr/>
          </p:nvSpPr>
          <p:spPr>
            <a:xfrm>
              <a:off x="581025" y="4295775"/>
              <a:ext cx="11030100" cy="552600"/>
            </a:xfrm>
            <a:prstGeom prst="roundRect">
              <a:avLst>
                <a:gd fmla="val 13793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581025" y="4295775"/>
              <a:ext cx="38100" cy="552600"/>
            </a:xfrm>
            <a:prstGeom prst="roundRect">
              <a:avLst>
                <a:gd fmla="val 50000" name="adj"/>
              </a:avLst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809625" y="4295775"/>
              <a:ext cx="20955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Sensor Filtering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3095625" y="4295775"/>
              <a:ext cx="2667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0F0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Median-of-3 readings</a:t>
              </a:r>
              <a:endParaRPr b="0" sz="1300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5953125" y="4295775"/>
              <a:ext cx="5238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Rejects single-shot spikes; 60 ms settle delay between near/far readings</a:t>
              </a:r>
              <a:endParaRPr b="0" sz="12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99" name="Google Shape;199;p19"/>
          <p:cNvGrpSpPr/>
          <p:nvPr/>
        </p:nvGrpSpPr>
        <p:grpSpPr>
          <a:xfrm>
            <a:off x="581025" y="4616075"/>
            <a:ext cx="11030100" cy="552600"/>
            <a:chOff x="581025" y="4943475"/>
            <a:chExt cx="11030100" cy="552600"/>
          </a:xfrm>
        </p:grpSpPr>
        <p:sp>
          <p:nvSpPr>
            <p:cNvPr id="200" name="Google Shape;200;p19"/>
            <p:cNvSpPr/>
            <p:nvPr/>
          </p:nvSpPr>
          <p:spPr>
            <a:xfrm>
              <a:off x="581025" y="4943475"/>
              <a:ext cx="11030100" cy="552600"/>
            </a:xfrm>
            <a:prstGeom prst="roundRect">
              <a:avLst>
                <a:gd fmla="val 13793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581025" y="4943475"/>
              <a:ext cx="38100" cy="552600"/>
            </a:xfrm>
            <a:prstGeom prst="roundRect">
              <a:avLst>
                <a:gd fmla="val 50000" name="adj"/>
              </a:avLst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809625" y="4943475"/>
              <a:ext cx="20955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Pedestrian Request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3095625" y="4943475"/>
              <a:ext cx="2667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0F0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NVIC EXTI</a:t>
              </a:r>
              <a:endParaRPr b="0" sz="1300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5953125" y="4943475"/>
              <a:ext cx="5238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Button press sets pending flag; handled at next safe red phase</a:t>
              </a:r>
              <a:endParaRPr b="0" sz="12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05" name="Google Shape;205;p19"/>
          <p:cNvGrpSpPr/>
          <p:nvPr/>
        </p:nvGrpSpPr>
        <p:grpSpPr>
          <a:xfrm>
            <a:off x="581025" y="5263775"/>
            <a:ext cx="11030100" cy="552600"/>
            <a:chOff x="581025" y="5591175"/>
            <a:chExt cx="11030100" cy="552600"/>
          </a:xfrm>
        </p:grpSpPr>
        <p:sp>
          <p:nvSpPr>
            <p:cNvPr id="206" name="Google Shape;206;p19"/>
            <p:cNvSpPr/>
            <p:nvPr/>
          </p:nvSpPr>
          <p:spPr>
            <a:xfrm>
              <a:off x="581025" y="5591175"/>
              <a:ext cx="11030100" cy="552600"/>
            </a:xfrm>
            <a:prstGeom prst="roundRect">
              <a:avLst>
                <a:gd fmla="val 13793" name="adj"/>
              </a:avLst>
            </a:prstGeom>
            <a:solidFill>
              <a:srgbClr val="111827">
                <a:alpha val="60000"/>
              </a:srgbClr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581025" y="5591175"/>
              <a:ext cx="38100" cy="552600"/>
            </a:xfrm>
            <a:prstGeom prst="roundRect">
              <a:avLst>
                <a:gd fmla="val 50000" name="adj"/>
              </a:avLst>
            </a:prstGeom>
            <a:solidFill>
              <a:srgbClr val="00F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809625" y="5591175"/>
              <a:ext cx="20955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Traffic Output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3095625" y="5591175"/>
              <a:ext cx="26670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0F0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GPIO</a:t>
              </a:r>
              <a:endParaRPr b="0" sz="1300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5953125" y="5591175"/>
              <a:ext cx="52389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Controls 12 red/yellow/green LED outputs</a:t>
              </a:r>
              <a:endParaRPr b="0" sz="12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11" name="Google Shape;211;p19"/>
          <p:cNvSpPr/>
          <p:nvPr/>
        </p:nvSpPr>
        <p:spPr>
          <a:xfrm>
            <a:off x="581025" y="1249560"/>
            <a:ext cx="11030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5. Methodology</a:t>
            </a:r>
            <a:endParaRPr sz="345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/>
        </p:nvSpPr>
        <p:spPr>
          <a:xfrm>
            <a:off x="571500" y="476250"/>
            <a:ext cx="11049000" cy="80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6</a:t>
            </a:r>
            <a:r>
              <a:rPr b="1" lang="en-US" sz="3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b="1" lang="en-US" sz="3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Algorithm Workflow</a:t>
            </a:r>
            <a:endParaRPr b="1" sz="3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circular sequence prioritizes lanes using real-time density triggers while ensuring non-starvation.</a:t>
            </a:r>
            <a:endParaRPr b="0" sz="14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18" name="Google Shape;218;p20"/>
          <p:cNvGrpSpPr/>
          <p:nvPr/>
        </p:nvGrpSpPr>
        <p:grpSpPr>
          <a:xfrm>
            <a:off x="6286500" y="2727258"/>
            <a:ext cx="5334000" cy="2306330"/>
            <a:chOff x="6286500" y="1809750"/>
            <a:chExt cx="5334000" cy="2862162"/>
          </a:xfrm>
        </p:grpSpPr>
        <p:grpSp>
          <p:nvGrpSpPr>
            <p:cNvPr id="219" name="Google Shape;219;p20"/>
            <p:cNvGrpSpPr/>
            <p:nvPr/>
          </p:nvGrpSpPr>
          <p:grpSpPr>
            <a:xfrm>
              <a:off x="6286500" y="1809750"/>
              <a:ext cx="5334000" cy="1082952"/>
              <a:chOff x="0" y="0"/>
              <a:chExt cx="5334000" cy="1082952"/>
            </a:xfrm>
          </p:grpSpPr>
          <p:sp>
            <p:nvSpPr>
              <p:cNvPr id="220" name="Google Shape;220;p20"/>
              <p:cNvSpPr/>
              <p:nvPr/>
            </p:nvSpPr>
            <p:spPr>
              <a:xfrm>
                <a:off x="0" y="0"/>
                <a:ext cx="53340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11827">
                  <a:alpha val="80000"/>
                </a:srgbClr>
              </a:solidFill>
              <a:ln cap="flat" cmpd="sng" w="14300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0"/>
              <p:cNvSpPr txBox="1"/>
              <p:nvPr/>
            </p:nvSpPr>
            <p:spPr>
              <a:xfrm>
                <a:off x="228600" y="35052"/>
                <a:ext cx="457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DEFF9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shield</a:t>
                </a:r>
                <a:endParaRPr sz="24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22" name="Google Shape;222;p20"/>
              <p:cNvSpPr txBox="1"/>
              <p:nvPr/>
            </p:nvSpPr>
            <p:spPr>
              <a:xfrm>
                <a:off x="800100" y="0"/>
                <a:ext cx="43053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Safety Buffers</a:t>
                </a:r>
                <a:endParaRPr b="1" sz="16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3s Yellow + 2s All-Red</a:t>
                </a:r>
                <a:endParaRPr b="0" sz="12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23" name="Google Shape;223;p20"/>
            <p:cNvGrpSpPr/>
            <p:nvPr/>
          </p:nvGrpSpPr>
          <p:grpSpPr>
            <a:xfrm>
              <a:off x="6286500" y="3048012"/>
              <a:ext cx="5334000" cy="1623900"/>
              <a:chOff x="0" y="12"/>
              <a:chExt cx="5334000" cy="1623900"/>
            </a:xfrm>
          </p:grpSpPr>
          <p:sp>
            <p:nvSpPr>
              <p:cNvPr id="224" name="Google Shape;224;p20"/>
              <p:cNvSpPr/>
              <p:nvPr/>
            </p:nvSpPr>
            <p:spPr>
              <a:xfrm>
                <a:off x="0" y="12"/>
                <a:ext cx="5334000" cy="1623900"/>
              </a:xfrm>
              <a:prstGeom prst="roundRect">
                <a:avLst>
                  <a:gd fmla="val 5000" name="adj"/>
                </a:avLst>
              </a:prstGeom>
              <a:solidFill>
                <a:srgbClr val="111827">
                  <a:alpha val="80000"/>
                </a:srgbClr>
              </a:solidFill>
              <a:ln cap="flat" cmpd="sng" w="14300">
                <a:solidFill>
                  <a:srgbClr val="1F29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0"/>
              <p:cNvSpPr txBox="1"/>
              <p:nvPr/>
            </p:nvSpPr>
            <p:spPr>
              <a:xfrm>
                <a:off x="228600" y="263652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F0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directions_walk</a:t>
                </a:r>
                <a:endParaRPr sz="2400">
                  <a:solidFill>
                    <a:srgbClr val="00F0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26" name="Google Shape;226;p20"/>
              <p:cNvSpPr txBox="1"/>
              <p:nvPr/>
            </p:nvSpPr>
            <p:spPr>
              <a:xfrm>
                <a:off x="800100" y="228600"/>
                <a:ext cx="4305300" cy="12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Pedestrian Request</a:t>
                </a:r>
                <a:endParaRPr b="1" sz="16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200">
                    <a:solidFill>
                      <a:srgbClr val="FFFFFF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EXTI stores the request.</a:t>
                </a:r>
                <a:r>
                  <a:rPr b="0" lang="en-US" sz="12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During the next safe red phase, the system performs </a:t>
                </a:r>
                <a:r>
                  <a:rPr b="0" lang="en-US" sz="1200">
                    <a:solidFill>
                      <a:srgbClr val="DEFF9A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2s yellow blinking</a:t>
                </a:r>
                <a:r>
                  <a:rPr b="0" lang="en-US" sz="12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and </a:t>
                </a:r>
                <a:r>
                  <a:rPr b="0" lang="en-US" sz="1200">
                    <a:solidFill>
                      <a:srgbClr val="FF5C5C"/>
                    </a:solidFill>
                    <a:latin typeface="Urbanist SemiBold"/>
                    <a:ea typeface="Urbanist SemiBold"/>
                    <a:cs typeface="Urbanist SemiBold"/>
                    <a:sym typeface="Urbanist SemiBold"/>
                  </a:rPr>
                  <a:t>2s red blinking</a:t>
                </a:r>
                <a:r>
                  <a:rPr b="0" lang="en-US" sz="12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, then resumes the normal red gap before green.</a:t>
                </a:r>
                <a:endParaRPr b="0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227" name="Google Shape;227;p20"/>
          <p:cNvGrpSpPr/>
          <p:nvPr/>
        </p:nvGrpSpPr>
        <p:grpSpPr>
          <a:xfrm>
            <a:off x="571500" y="2375475"/>
            <a:ext cx="5143650" cy="3009900"/>
            <a:chOff x="571500" y="1714500"/>
            <a:chExt cx="5143650" cy="3009900"/>
          </a:xfrm>
        </p:grpSpPr>
        <p:pic>
          <p:nvPicPr>
            <p:cNvPr id="228" name="Google Shape;22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71700" y="2647950"/>
              <a:ext cx="1943100" cy="194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3250" y="2652713"/>
              <a:ext cx="962100" cy="145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09813" y="4086225"/>
              <a:ext cx="1666800" cy="4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81225" y="2652713"/>
              <a:ext cx="962100" cy="1452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2" name="Google Shape;232;p20"/>
            <p:cNvGrpSpPr/>
            <p:nvPr/>
          </p:nvGrpSpPr>
          <p:grpSpPr>
            <a:xfrm>
              <a:off x="1714500" y="1714500"/>
              <a:ext cx="2857500" cy="723900"/>
              <a:chOff x="0" y="0"/>
              <a:chExt cx="2857500" cy="723900"/>
            </a:xfrm>
          </p:grpSpPr>
          <p:sp>
            <p:nvSpPr>
              <p:cNvPr id="233" name="Google Shape;233;p20"/>
              <p:cNvSpPr/>
              <p:nvPr/>
            </p:nvSpPr>
            <p:spPr>
              <a:xfrm>
                <a:off x="0" y="0"/>
                <a:ext cx="2857500" cy="723900"/>
              </a:xfrm>
              <a:prstGeom prst="roundRect">
                <a:avLst>
                  <a:gd fmla="val 21052" name="adj"/>
                </a:avLst>
              </a:prstGeom>
              <a:solidFill>
                <a:srgbClr val="111827">
                  <a:alpha val="89999"/>
                </a:srgbClr>
              </a:solidFill>
              <a:ln cap="flat" cmpd="sng" w="19050">
                <a:solidFill>
                  <a:srgbClr val="DEFF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0"/>
              <p:cNvSpPr txBox="1"/>
              <p:nvPr/>
            </p:nvSpPr>
            <p:spPr>
              <a:xfrm>
                <a:off x="0" y="0"/>
                <a:ext cx="2857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52400" spcFirstLastPara="1" rIns="15240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Heavy Traffic</a:t>
                </a:r>
                <a:endParaRPr b="1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Near &amp; Far blocked • </a:t>
                </a:r>
                <a:r>
                  <a:rPr b="1" lang="en-US" sz="110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10.0s Green</a:t>
                </a:r>
                <a:endParaRPr sz="11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35" name="Google Shape;235;p20"/>
            <p:cNvGrpSpPr/>
            <p:nvPr/>
          </p:nvGrpSpPr>
          <p:grpSpPr>
            <a:xfrm>
              <a:off x="3333750" y="4000500"/>
              <a:ext cx="2381400" cy="723900"/>
              <a:chOff x="0" y="0"/>
              <a:chExt cx="2381400" cy="723900"/>
            </a:xfrm>
          </p:grpSpPr>
          <p:sp>
            <p:nvSpPr>
              <p:cNvPr id="236" name="Google Shape;236;p20"/>
              <p:cNvSpPr/>
              <p:nvPr/>
            </p:nvSpPr>
            <p:spPr>
              <a:xfrm>
                <a:off x="0" y="0"/>
                <a:ext cx="2381400" cy="723900"/>
              </a:xfrm>
              <a:prstGeom prst="roundRect">
                <a:avLst>
                  <a:gd fmla="val 21052" name="adj"/>
                </a:avLst>
              </a:prstGeom>
              <a:solidFill>
                <a:srgbClr val="111827">
                  <a:alpha val="89999"/>
                </a:srgbClr>
              </a:solidFill>
              <a:ln cap="flat" cmpd="sng" w="19050">
                <a:solidFill>
                  <a:srgbClr val="00F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0"/>
              <p:cNvSpPr txBox="1"/>
              <p:nvPr/>
            </p:nvSpPr>
            <p:spPr>
              <a:xfrm>
                <a:off x="0" y="0"/>
                <a:ext cx="2381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Low Traffic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1 blocked • </a:t>
                </a:r>
                <a:r>
                  <a:rPr b="1" lang="en-US" sz="1000">
                    <a:solidFill>
                      <a:srgbClr val="00F0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5.0s Green</a:t>
                </a:r>
                <a:endParaRPr sz="10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238" name="Google Shape;238;p20"/>
            <p:cNvGrpSpPr/>
            <p:nvPr/>
          </p:nvGrpSpPr>
          <p:grpSpPr>
            <a:xfrm>
              <a:off x="571500" y="4000500"/>
              <a:ext cx="2381400" cy="723900"/>
              <a:chOff x="0" y="0"/>
              <a:chExt cx="2381400" cy="723900"/>
            </a:xfrm>
          </p:grpSpPr>
          <p:sp>
            <p:nvSpPr>
              <p:cNvPr id="239" name="Google Shape;239;p20"/>
              <p:cNvSpPr/>
              <p:nvPr/>
            </p:nvSpPr>
            <p:spPr>
              <a:xfrm>
                <a:off x="0" y="0"/>
                <a:ext cx="2381400" cy="723900"/>
              </a:xfrm>
              <a:prstGeom prst="roundRect">
                <a:avLst>
                  <a:gd fmla="val 21052" name="adj"/>
                </a:avLst>
              </a:prstGeom>
              <a:solidFill>
                <a:srgbClr val="111827">
                  <a:alpha val="89999"/>
                </a:srgbClr>
              </a:solidFill>
              <a:ln cap="flat" cmpd="sng" w="19050">
                <a:solidFill>
                  <a:srgbClr val="FF5C5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0"/>
              <p:cNvSpPr txBox="1"/>
              <p:nvPr/>
            </p:nvSpPr>
            <p:spPr>
              <a:xfrm>
                <a:off x="0" y="0"/>
                <a:ext cx="2381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114300" spcFirstLastPara="1" rIns="11430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No Traffic</a:t>
                </a:r>
                <a:endParaRPr b="1" sz="13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Zero blocked • </a:t>
                </a:r>
                <a:r>
                  <a:rPr b="1" lang="en-US" sz="1000">
                    <a:solidFill>
                      <a:srgbClr val="FF5C5C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2.0s Green</a:t>
                </a:r>
                <a:endParaRPr sz="10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571500" y="476250"/>
            <a:ext cx="11049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7. </a:t>
            </a:r>
            <a:r>
              <a:rPr b="1" lang="en-US" sz="3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Commercial Value Proposition</a:t>
            </a:r>
            <a:endParaRPr b="1" sz="32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Disruptive smart junction optimization engineered for high-performance and low-cost deployment</a:t>
            </a:r>
            <a:endParaRPr b="0" sz="14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47" name="Google Shape;247;p21"/>
          <p:cNvGrpSpPr/>
          <p:nvPr/>
        </p:nvGrpSpPr>
        <p:grpSpPr>
          <a:xfrm>
            <a:off x="571500" y="1571625"/>
            <a:ext cx="11049000" cy="1047900"/>
            <a:chOff x="0" y="0"/>
            <a:chExt cx="11049000" cy="1047900"/>
          </a:xfrm>
        </p:grpSpPr>
        <p:sp>
          <p:nvSpPr>
            <p:cNvPr id="248" name="Google Shape;248;p21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fmla="val 14545" name="adj"/>
              </a:avLst>
            </a:prstGeom>
            <a:solidFill>
              <a:srgbClr val="111827">
                <a:alpha val="89999"/>
              </a:srgbClr>
            </a:solidFill>
            <a:ln cap="flat" cmpd="sng" w="19050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285750" y="189611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32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1238250" y="171450"/>
              <a:ext cx="933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AdaptiveFlow</a:t>
              </a:r>
              <a:endParaRPr b="1" sz="2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Low-Cost Smart Junction Controller</a:t>
              </a:r>
              <a:endParaRPr b="0" sz="15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</p:grpSp>
      <p:grpSp>
        <p:nvGrpSpPr>
          <p:cNvPr id="251" name="Google Shape;251;p21"/>
          <p:cNvGrpSpPr/>
          <p:nvPr/>
        </p:nvGrpSpPr>
        <p:grpSpPr>
          <a:xfrm>
            <a:off x="571500" y="2809875"/>
            <a:ext cx="3486300" cy="3524400"/>
            <a:chOff x="0" y="0"/>
            <a:chExt cx="3486300" cy="3524400"/>
          </a:xfrm>
        </p:grpSpPr>
        <p:sp>
          <p:nvSpPr>
            <p:cNvPr id="252" name="Google Shape;252;p21"/>
            <p:cNvSpPr/>
            <p:nvPr/>
          </p:nvSpPr>
          <p:spPr>
            <a:xfrm>
              <a:off x="0" y="0"/>
              <a:ext cx="3486300" cy="3524400"/>
            </a:xfrm>
            <a:prstGeom prst="roundRect">
              <a:avLst>
                <a:gd fmla="val 4371" name="adj"/>
              </a:avLst>
            </a:prstGeom>
            <a:solidFill>
              <a:srgbClr val="111827">
                <a:alpha val="80000"/>
              </a:srgbClr>
            </a:solidFill>
            <a:ln cap="flat" cmpd="sng" w="1905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285750" y="285750"/>
              <a:ext cx="29148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5C5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3200">
                <a:solidFill>
                  <a:srgbClr val="FF5C5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The Problem</a:t>
              </a:r>
              <a:endParaRPr b="1" sz="2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Traditional fixed timers operate on rigid schedules, wasting green light cycles on empty lanes while forcing heavy traffic to idle, driving up congestion and frustration.</a:t>
              </a:r>
              <a:endParaRPr b="0" sz="12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54" name="Google Shape;254;p21"/>
          <p:cNvGrpSpPr/>
          <p:nvPr/>
        </p:nvGrpSpPr>
        <p:grpSpPr>
          <a:xfrm>
            <a:off x="4343400" y="2809875"/>
            <a:ext cx="3486300" cy="3524400"/>
            <a:chOff x="0" y="0"/>
            <a:chExt cx="3486300" cy="3524400"/>
          </a:xfrm>
        </p:grpSpPr>
        <p:sp>
          <p:nvSpPr>
            <p:cNvPr id="255" name="Google Shape;255;p21"/>
            <p:cNvSpPr/>
            <p:nvPr/>
          </p:nvSpPr>
          <p:spPr>
            <a:xfrm>
              <a:off x="0" y="0"/>
              <a:ext cx="3486300" cy="3524400"/>
            </a:xfrm>
            <a:prstGeom prst="roundRect">
              <a:avLst>
                <a:gd fmla="val 4371" name="adj"/>
              </a:avLst>
            </a:prstGeom>
            <a:solidFill>
              <a:srgbClr val="111827">
                <a:alpha val="80000"/>
              </a:srgbClr>
            </a:solidFill>
            <a:ln cap="flat" cmpd="sng" w="1905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285750" y="285750"/>
              <a:ext cx="29148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20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The Solution</a:t>
              </a:r>
              <a:endParaRPr b="1" sz="2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Real-time ultrasonic sensors monitor lanes continuously. Our STM32 adaptive control algorithm dynamic recalculates green phase durations dynamically to maximize flow.</a:t>
              </a:r>
              <a:endParaRPr b="0" sz="12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57" name="Google Shape;257;p21"/>
          <p:cNvGrpSpPr/>
          <p:nvPr/>
        </p:nvGrpSpPr>
        <p:grpSpPr>
          <a:xfrm>
            <a:off x="8124825" y="2809875"/>
            <a:ext cx="3486300" cy="3524400"/>
            <a:chOff x="0" y="0"/>
            <a:chExt cx="3486300" cy="3524400"/>
          </a:xfrm>
        </p:grpSpPr>
        <p:sp>
          <p:nvSpPr>
            <p:cNvPr id="258" name="Google Shape;258;p21"/>
            <p:cNvSpPr/>
            <p:nvPr/>
          </p:nvSpPr>
          <p:spPr>
            <a:xfrm>
              <a:off x="0" y="0"/>
              <a:ext cx="3486300" cy="3524400"/>
            </a:xfrm>
            <a:prstGeom prst="roundRect">
              <a:avLst>
                <a:gd fmla="val 4371" name="adj"/>
              </a:avLst>
            </a:prstGeom>
            <a:solidFill>
              <a:srgbClr val="111827">
                <a:alpha val="80000"/>
              </a:srgbClr>
            </a:solidFill>
            <a:ln cap="flat" cmpd="sng" w="1905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285750" y="285750"/>
              <a:ext cx="29148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F0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3200">
                <a:solidFill>
                  <a:srgbClr val="00F0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The Value</a:t>
              </a:r>
              <a:endParaRPr b="1" sz="2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Ensures less waiting, fairer driver access, and safer pedestrian phases. All with a highly cost-efficient localized deployment model.</a:t>
              </a:r>
              <a:endParaRPr b="0" sz="12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0F0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“AdaptiveFlow delivers smart-junction behavior without expensive cameras or cloud dependencies.”</a:t>
              </a:r>
              <a:endParaRPr b="0" sz="1300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562" y="872579"/>
            <a:ext cx="5476875" cy="5112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0" y="14536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3830716" y="2406104"/>
            <a:ext cx="4530566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9. LIVE DEMO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3938587" y="3324225"/>
            <a:ext cx="43148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Witness the Prototype in Action</a:t>
            </a:r>
            <a:endParaRPr/>
          </a:p>
        </p:txBody>
      </p:sp>
      <p:pic>
        <p:nvPicPr>
          <p:cNvPr descr="image.png" id="270" name="Google Shape;27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4550" y="166315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4271962" y="3975645"/>
            <a:ext cx="39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Observing Density Triggers (</a:t>
            </a:r>
            <a:r>
              <a:rPr lang="en-US" sz="15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 / </a:t>
            </a:r>
            <a:r>
              <a:rPr lang="en-US" sz="15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 / </a:t>
            </a:r>
            <a:r>
              <a:rPr lang="en-US" sz="15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10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 logic)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4271962" y="4451895"/>
            <a:ext cx="39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Testing Pedestrian Interrupt (EXTI) </a:t>
            </a:r>
            <a:r>
              <a:rPr lang="en-US" sz="15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Request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4271962" y="492814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Verifying Hardware Safety Buffers</a:t>
            </a:r>
            <a:endParaRPr/>
          </a:p>
        </p:txBody>
      </p:sp>
      <p:pic>
        <p:nvPicPr>
          <p:cNvPr descr="image.png" id="274" name="Google Shape;27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38587" y="39946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38587" y="44709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38587" y="494719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5324623"/>
            <a:ext cx="5715000" cy="952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2250" y="2463031"/>
            <a:ext cx="6667500" cy="193193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3095625" y="2512962"/>
            <a:ext cx="6000750" cy="96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10. The End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3095625" y="3568303"/>
            <a:ext cx="60007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Questions?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3238500" y="4334023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 We are ready to answer any questions regarding the technical design or commercial viability.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3238500" y="5619898"/>
            <a:ext cx="5715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FACULTY OF ELECTRICAL ENGINEERING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3238500" y="5941814"/>
            <a:ext cx="5715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Universiti Teknologi Malaysia (UTM)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